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604" y="885189"/>
            <a:ext cx="236855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59153" y="2090674"/>
            <a:ext cx="5276850" cy="680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0" dirty="0">
                <a:latin typeface="Calibri"/>
                <a:cs typeface="Calibri"/>
              </a:rPr>
              <a:t>PROJECT</a:t>
            </a:r>
            <a:r>
              <a:rPr sz="2600" b="0" spc="75" dirty="0">
                <a:latin typeface="Calibri"/>
                <a:cs typeface="Calibri"/>
              </a:rPr>
              <a:t> </a:t>
            </a:r>
            <a:r>
              <a:rPr sz="2600" b="0" spc="-10" dirty="0">
                <a:latin typeface="Calibri"/>
                <a:cs typeface="Calibri"/>
              </a:rPr>
              <a:t>REPORT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5016" y="1367282"/>
            <a:ext cx="5523865" cy="12700"/>
          </a:xfrm>
          <a:custGeom>
            <a:avLst/>
            <a:gdLst/>
            <a:ahLst/>
            <a:cxnLst/>
            <a:rect l="l" t="t" r="r" b="b"/>
            <a:pathLst>
              <a:path w="5523865" h="12700">
                <a:moveTo>
                  <a:pt x="5523865" y="0"/>
                </a:moveTo>
                <a:lnTo>
                  <a:pt x="0" y="0"/>
                </a:lnTo>
                <a:lnTo>
                  <a:pt x="0" y="12192"/>
                </a:lnTo>
                <a:lnTo>
                  <a:pt x="5523865" y="12192"/>
                </a:lnTo>
                <a:lnTo>
                  <a:pt x="552386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0604" y="1879752"/>
            <a:ext cx="4215765" cy="22860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200" spc="-10" dirty="0">
                <a:latin typeface="Cambria"/>
                <a:cs typeface="Cambria"/>
              </a:rPr>
              <a:t>Submitted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by: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200" dirty="0">
                <a:latin typeface="Cambria"/>
                <a:cs typeface="Cambria"/>
              </a:rPr>
              <a:t>[Your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Name]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12300"/>
              </a:lnSpc>
            </a:pPr>
            <a:r>
              <a:rPr sz="2200" spc="-10" dirty="0">
                <a:latin typeface="Cambria"/>
                <a:cs typeface="Cambria"/>
              </a:rPr>
              <a:t>Department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[Department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Name] </a:t>
            </a:r>
            <a:r>
              <a:rPr sz="2200" dirty="0">
                <a:latin typeface="Cambria"/>
                <a:cs typeface="Cambria"/>
              </a:rPr>
              <a:t>[Institution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Name]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200" spc="-10" dirty="0">
                <a:latin typeface="Cambria"/>
                <a:cs typeface="Cambria"/>
              </a:rPr>
              <a:t>[Year]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604" y="787393"/>
            <a:ext cx="5451475" cy="35979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pc="-10" dirty="0"/>
              <a:t>CERTIFICATE</a:t>
            </a:r>
          </a:p>
          <a:p>
            <a:pPr marL="12700" marR="5080">
              <a:lnSpc>
                <a:spcPct val="112400"/>
              </a:lnSpc>
              <a:spcBef>
                <a:spcPts val="270"/>
              </a:spcBef>
            </a:pP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This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certify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that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project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report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entitled</a:t>
            </a:r>
            <a:r>
              <a:rPr sz="2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'[Project</a:t>
            </a:r>
            <a:r>
              <a:rPr sz="2200" b="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Title]'</a:t>
            </a:r>
            <a:r>
              <a:rPr sz="2200" b="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submitted</a:t>
            </a:r>
            <a:r>
              <a:rPr sz="2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by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[Your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Name]</a:t>
            </a:r>
            <a:r>
              <a:rPr sz="2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partial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fulfillment</a:t>
            </a:r>
            <a:r>
              <a:rPr sz="2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mbria"/>
                <a:cs typeface="Cambria"/>
              </a:rPr>
              <a:t>the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requirements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b="0" spc="-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award</a:t>
            </a:r>
            <a:r>
              <a:rPr sz="2200" b="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degree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mbria"/>
                <a:cs typeface="Cambria"/>
              </a:rPr>
              <a:t>of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Bachelor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[Degree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Name]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[Discipline]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during</a:t>
            </a:r>
            <a:r>
              <a:rPr sz="2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academic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year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[Year]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record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mbria"/>
                <a:cs typeface="Cambria"/>
              </a:rPr>
              <a:t>of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bona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fide</a:t>
            </a:r>
            <a:r>
              <a:rPr sz="2200" b="0" spc="-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work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carried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out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under</a:t>
            </a:r>
            <a:r>
              <a:rPr sz="2200" b="0" spc="-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mbria"/>
                <a:cs typeface="Cambria"/>
              </a:rPr>
              <a:t>my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supervision.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5658992"/>
            <a:ext cx="5016500" cy="1113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89375" algn="l"/>
              </a:tabLst>
            </a:pPr>
            <a:r>
              <a:rPr sz="2200" dirty="0">
                <a:latin typeface="Cambria"/>
                <a:cs typeface="Cambria"/>
              </a:rPr>
              <a:t>Supervisor: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003165" algn="l"/>
              </a:tabLst>
            </a:pPr>
            <a:r>
              <a:rPr sz="2200" dirty="0">
                <a:latin typeface="Cambria"/>
                <a:cs typeface="Cambria"/>
              </a:rPr>
              <a:t>Head of Department: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604" y="787393"/>
            <a:ext cx="5438775" cy="32213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pc="-10" dirty="0"/>
              <a:t>ACKNOWLEDGMENT</a:t>
            </a:r>
          </a:p>
          <a:p>
            <a:pPr marL="12700" marR="5080">
              <a:lnSpc>
                <a:spcPct val="112400"/>
              </a:lnSpc>
              <a:spcBef>
                <a:spcPts val="270"/>
              </a:spcBef>
            </a:pP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I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would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like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express</a:t>
            </a:r>
            <a:r>
              <a:rPr sz="2200" b="0" spc="-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my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sincere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gratitude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my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project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guide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[Guide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Name],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their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valuable</a:t>
            </a:r>
            <a:r>
              <a:rPr sz="2200" b="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guidance</a:t>
            </a:r>
            <a:r>
              <a:rPr sz="2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encouragement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throughout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course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this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project.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I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20" dirty="0">
                <a:solidFill>
                  <a:srgbClr val="000000"/>
                </a:solidFill>
                <a:latin typeface="Cambria"/>
                <a:cs typeface="Cambria"/>
              </a:rPr>
              <a:t>also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thank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Head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2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Department,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faculty members,</a:t>
            </a:r>
            <a:r>
              <a:rPr sz="2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my</a:t>
            </a:r>
            <a:r>
              <a:rPr sz="2200" b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peers</a:t>
            </a:r>
            <a:r>
              <a:rPr sz="2200" b="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b="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their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Cambria"/>
                <a:cs typeface="Cambria"/>
              </a:rPr>
              <a:t>support</a:t>
            </a:r>
            <a:r>
              <a:rPr sz="2200"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mbria"/>
                <a:cs typeface="Cambria"/>
              </a:rPr>
              <a:t>and </a:t>
            </a:r>
            <a:r>
              <a:rPr sz="2200" b="0" spc="-10" dirty="0">
                <a:solidFill>
                  <a:srgbClr val="000000"/>
                </a:solidFill>
                <a:latin typeface="Cambria"/>
                <a:cs typeface="Cambria"/>
              </a:rPr>
              <a:t>cooperation.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0604" y="1511553"/>
            <a:ext cx="4890770" cy="696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63525">
              <a:lnSpc>
                <a:spcPct val="100000"/>
              </a:lnSpc>
              <a:spcBef>
                <a:spcPts val="100"/>
              </a:spcBef>
              <a:buSzPct val="96153"/>
              <a:buAutoNum type="arabicPeriod"/>
              <a:tabLst>
                <a:tab pos="263525" algn="l"/>
              </a:tabLst>
            </a:pPr>
            <a:r>
              <a:rPr sz="2600" spc="-10" dirty="0">
                <a:solidFill>
                  <a:srgbClr val="0D0D0D"/>
                </a:solidFill>
                <a:latin typeface="Cambria"/>
                <a:cs typeface="Cambria"/>
              </a:rPr>
              <a:t>ABSTRACT</a:t>
            </a:r>
            <a:endParaRPr sz="2600">
              <a:latin typeface="Cambria"/>
              <a:cs typeface="Cambria"/>
            </a:endParaRPr>
          </a:p>
          <a:p>
            <a:pPr marL="12700" marR="18415" indent="323850">
              <a:lnSpc>
                <a:spcPct val="116900"/>
              </a:lnSpc>
              <a:spcBef>
                <a:spcPts val="2260"/>
              </a:spcBef>
              <a:buAutoNum type="arabicPeriod"/>
              <a:tabLst>
                <a:tab pos="336550" algn="l"/>
              </a:tabLst>
            </a:pPr>
            <a:r>
              <a:rPr sz="2600" dirty="0">
                <a:solidFill>
                  <a:srgbClr val="0D0D0D"/>
                </a:solidFill>
                <a:latin typeface="Calibri"/>
                <a:cs typeface="Calibri"/>
              </a:rPr>
              <a:t>BREIF</a:t>
            </a:r>
            <a:r>
              <a:rPr sz="26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D0D0D"/>
                </a:solidFill>
                <a:latin typeface="Calibri"/>
                <a:cs typeface="Calibri"/>
              </a:rPr>
              <a:t>INFORMATION</a:t>
            </a:r>
            <a:r>
              <a:rPr sz="26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D0D0D"/>
                </a:solidFill>
                <a:latin typeface="Calibri"/>
                <a:cs typeface="Calibri"/>
              </a:rPr>
              <a:t>REGARDING PROJECT</a:t>
            </a:r>
            <a:endParaRPr sz="2600">
              <a:latin typeface="Calibri"/>
              <a:cs typeface="Calibri"/>
            </a:endParaRPr>
          </a:p>
          <a:p>
            <a:pPr marL="262255" indent="-257175">
              <a:lnSpc>
                <a:spcPct val="100000"/>
              </a:lnSpc>
              <a:spcBef>
                <a:spcPts val="2930"/>
              </a:spcBef>
              <a:buSzPct val="94230"/>
              <a:buAutoNum type="arabicPeriod"/>
              <a:tabLst>
                <a:tab pos="262255" algn="l"/>
              </a:tabLst>
            </a:pPr>
            <a:r>
              <a:rPr sz="2600" spc="-10" dirty="0">
                <a:solidFill>
                  <a:srgbClr val="0D0D0D"/>
                </a:solidFill>
                <a:latin typeface="Calibri"/>
                <a:cs typeface="Calibri"/>
              </a:rPr>
              <a:t>INTRODUCTION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4"/>
              </a:spcBef>
              <a:buAutoNum type="arabicPeriod"/>
            </a:pPr>
            <a:endParaRPr sz="2600">
              <a:latin typeface="Calibri"/>
              <a:cs typeface="Calibri"/>
            </a:endParaRPr>
          </a:p>
          <a:p>
            <a:pPr marL="262255" indent="-257175">
              <a:lnSpc>
                <a:spcPct val="100000"/>
              </a:lnSpc>
              <a:buSzPct val="94230"/>
              <a:buAutoNum type="arabicPeriod"/>
              <a:tabLst>
                <a:tab pos="262255" algn="l"/>
              </a:tabLst>
            </a:pPr>
            <a:r>
              <a:rPr sz="2600" spc="-10" dirty="0">
                <a:solidFill>
                  <a:srgbClr val="0D0D0D"/>
                </a:solidFill>
                <a:latin typeface="Calibri"/>
                <a:cs typeface="Calibri"/>
              </a:rPr>
              <a:t>PURPOSE</a:t>
            </a:r>
            <a:endParaRPr sz="2600">
              <a:latin typeface="Calibri"/>
              <a:cs typeface="Calibri"/>
            </a:endParaRPr>
          </a:p>
          <a:p>
            <a:pPr marL="263525" indent="-263525">
              <a:lnSpc>
                <a:spcPct val="100000"/>
              </a:lnSpc>
              <a:spcBef>
                <a:spcPts val="2930"/>
              </a:spcBef>
              <a:buSzPct val="96153"/>
              <a:buAutoNum type="arabicPeriod"/>
              <a:tabLst>
                <a:tab pos="263525" algn="l"/>
              </a:tabLst>
            </a:pPr>
            <a:r>
              <a:rPr sz="2600" spc="-20" dirty="0">
                <a:solidFill>
                  <a:srgbClr val="0D0D0D"/>
                </a:solidFill>
                <a:latin typeface="Calibri"/>
                <a:cs typeface="Calibri"/>
              </a:rPr>
              <a:t>TASK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4"/>
              </a:spcBef>
              <a:buAutoNum type="arabicPeriod"/>
            </a:pPr>
            <a:endParaRPr sz="2600">
              <a:latin typeface="Calibri"/>
              <a:cs typeface="Calibri"/>
            </a:endParaRPr>
          </a:p>
          <a:p>
            <a:pPr marL="262255" indent="-259079">
              <a:lnSpc>
                <a:spcPct val="100000"/>
              </a:lnSpc>
              <a:spcBef>
                <a:spcPts val="5"/>
              </a:spcBef>
              <a:buSzPct val="94230"/>
              <a:buAutoNum type="arabicPeriod"/>
              <a:tabLst>
                <a:tab pos="262255" algn="l"/>
              </a:tabLst>
            </a:pPr>
            <a:r>
              <a:rPr sz="2600" dirty="0">
                <a:latin typeface="Cambria"/>
                <a:cs typeface="Cambria"/>
              </a:rPr>
              <a:t>METHOD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IMPLEMENTATION</a:t>
            </a:r>
            <a:endParaRPr sz="2600">
              <a:latin typeface="Cambria"/>
              <a:cs typeface="Cambria"/>
            </a:endParaRPr>
          </a:p>
          <a:p>
            <a:pPr marL="262255" indent="-259079">
              <a:lnSpc>
                <a:spcPct val="100000"/>
              </a:lnSpc>
              <a:spcBef>
                <a:spcPts val="1380"/>
              </a:spcBef>
              <a:buSzPct val="94230"/>
              <a:buAutoNum type="arabicPeriod"/>
              <a:tabLst>
                <a:tab pos="262255" algn="l"/>
              </a:tabLst>
            </a:pPr>
            <a:r>
              <a:rPr sz="2600" spc="-10" dirty="0">
                <a:latin typeface="Cambria"/>
                <a:cs typeface="Cambria"/>
              </a:rPr>
              <a:t>ALGORITHM</a:t>
            </a:r>
            <a:endParaRPr sz="2600">
              <a:latin typeface="Cambria"/>
              <a:cs typeface="Cambria"/>
            </a:endParaRPr>
          </a:p>
          <a:p>
            <a:pPr marL="262255" indent="-259079">
              <a:lnSpc>
                <a:spcPct val="100000"/>
              </a:lnSpc>
              <a:spcBef>
                <a:spcPts val="1395"/>
              </a:spcBef>
              <a:buSzPct val="94230"/>
              <a:buAutoNum type="arabicPeriod"/>
              <a:tabLst>
                <a:tab pos="262255" algn="l"/>
              </a:tabLst>
            </a:pPr>
            <a:r>
              <a:rPr sz="2600" spc="-20" dirty="0">
                <a:latin typeface="Cambria"/>
                <a:cs typeface="Cambria"/>
              </a:rPr>
              <a:t>CODE</a:t>
            </a:r>
            <a:endParaRPr sz="2600">
              <a:latin typeface="Cambria"/>
              <a:cs typeface="Cambria"/>
            </a:endParaRPr>
          </a:p>
          <a:p>
            <a:pPr marL="263525" indent="-263525">
              <a:lnSpc>
                <a:spcPct val="100000"/>
              </a:lnSpc>
              <a:spcBef>
                <a:spcPts val="1380"/>
              </a:spcBef>
              <a:buSzPct val="96153"/>
              <a:buAutoNum type="arabicPeriod"/>
              <a:tabLst>
                <a:tab pos="263525" algn="l"/>
              </a:tabLst>
            </a:pPr>
            <a:r>
              <a:rPr sz="2600" spc="-10" dirty="0">
                <a:latin typeface="Cambria"/>
                <a:cs typeface="Cambria"/>
              </a:rPr>
              <a:t>CONCLUSION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153" y="811427"/>
            <a:ext cx="382333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7100"/>
              </a:lnSpc>
              <a:spcBef>
                <a:spcPts val="100"/>
              </a:spcBef>
              <a:tabLst>
                <a:tab pos="469265" algn="l"/>
              </a:tabLst>
            </a:pPr>
            <a:r>
              <a:rPr spc="-25" dirty="0"/>
              <a:t>1.</a:t>
            </a:r>
            <a:r>
              <a:rPr dirty="0"/>
              <a:t>	BR</a:t>
            </a:r>
            <a:r>
              <a:rPr lang="en-US" dirty="0"/>
              <a:t>IE</a:t>
            </a:r>
            <a:r>
              <a:rPr dirty="0"/>
              <a:t>F</a:t>
            </a:r>
            <a:r>
              <a:rPr spc="-75" dirty="0"/>
              <a:t> </a:t>
            </a:r>
            <a:r>
              <a:rPr spc="-10" dirty="0"/>
              <a:t>INFORMATION </a:t>
            </a:r>
            <a:r>
              <a:rPr dirty="0"/>
              <a:t>REGARDING</a:t>
            </a:r>
            <a:r>
              <a:rPr spc="-8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0604" y="1855978"/>
            <a:ext cx="5497195" cy="397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1775">
              <a:lnSpc>
                <a:spcPct val="1122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C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program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create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Number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Guessing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Game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C </a:t>
            </a:r>
            <a:r>
              <a:rPr sz="1800" spc="-10" dirty="0">
                <a:latin typeface="Cambria"/>
                <a:cs typeface="Cambria"/>
              </a:rPr>
              <a:t>Programming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concepts</a:t>
            </a:r>
            <a:endParaRPr sz="1800" dirty="0">
              <a:latin typeface="Cambria"/>
              <a:cs typeface="Cambria"/>
            </a:endParaRPr>
          </a:p>
          <a:p>
            <a:pPr marL="12700" marR="375285">
              <a:lnSpc>
                <a:spcPct val="112300"/>
              </a:lnSpc>
              <a:spcBef>
                <a:spcPts val="1005"/>
              </a:spcBef>
            </a:pPr>
            <a:r>
              <a:rPr sz="1800" dirty="0">
                <a:latin typeface="Cambria"/>
                <a:cs typeface="Cambria"/>
              </a:rPr>
              <a:t>This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project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report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"Number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Guessing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Game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C".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program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contain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basics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as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input,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while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condition,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if-</a:t>
            </a:r>
            <a:r>
              <a:rPr sz="1800" dirty="0">
                <a:latin typeface="Cambria"/>
                <a:cs typeface="Cambria"/>
              </a:rPr>
              <a:t>else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condition.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2300"/>
              </a:lnSpc>
              <a:spcBef>
                <a:spcPts val="1005"/>
              </a:spcBef>
            </a:pPr>
            <a:r>
              <a:rPr sz="1800" dirty="0">
                <a:latin typeface="Cambria"/>
                <a:cs typeface="Cambria"/>
              </a:rPr>
              <a:t>Basic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logic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behind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game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ask</a:t>
            </a:r>
            <a:r>
              <a:rPr sz="1800" spc="5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about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numbers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according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number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is </a:t>
            </a:r>
            <a:r>
              <a:rPr sz="1800" dirty="0">
                <a:latin typeface="Cambria"/>
                <a:cs typeface="Cambria"/>
              </a:rPr>
              <a:t>entered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gives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'Too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low'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'Too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High'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number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correct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will </a:t>
            </a:r>
            <a:r>
              <a:rPr sz="1800" dirty="0">
                <a:latin typeface="Cambria"/>
                <a:cs typeface="Cambria"/>
              </a:rPr>
              <a:t>show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'you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guesed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right!'.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number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random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depends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random </a:t>
            </a:r>
            <a:r>
              <a:rPr sz="1800" dirty="0">
                <a:latin typeface="Cambria"/>
                <a:cs typeface="Cambria"/>
              </a:rPr>
              <a:t>function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program.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153" y="885189"/>
            <a:ext cx="2816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pc="-25" dirty="0"/>
              <a:t>2.</a:t>
            </a:r>
            <a:r>
              <a:rPr dirty="0"/>
              <a:t>	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0604" y="1667611"/>
            <a:ext cx="5414645" cy="4033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815">
              <a:lnSpc>
                <a:spcPct val="112000"/>
              </a:lnSpc>
              <a:spcBef>
                <a:spcPts val="100"/>
              </a:spcBef>
            </a:pPr>
            <a:r>
              <a:rPr sz="2000" dirty="0">
                <a:latin typeface="Cambria"/>
                <a:cs typeface="Cambria"/>
              </a:rPr>
              <a:t>Number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Guessing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Game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using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application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mostly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guessing</a:t>
            </a:r>
            <a:r>
              <a:rPr sz="2000" spc="-20" dirty="0">
                <a:latin typeface="Cambria"/>
                <a:cs typeface="Cambria"/>
              </a:rPr>
              <a:t> game.</a:t>
            </a:r>
            <a:endParaRPr sz="2000" dirty="0">
              <a:latin typeface="Cambria"/>
              <a:cs typeface="Cambria"/>
            </a:endParaRPr>
          </a:p>
          <a:p>
            <a:pPr marL="12700" marR="5080">
              <a:lnSpc>
                <a:spcPct val="112200"/>
              </a:lnSpc>
              <a:spcBef>
                <a:spcPts val="1015"/>
              </a:spcBef>
            </a:pPr>
            <a:r>
              <a:rPr sz="2000" dirty="0">
                <a:latin typeface="Cambria"/>
                <a:cs typeface="Cambria"/>
              </a:rPr>
              <a:t>This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going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simple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guessing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game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where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computer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generate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random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number </a:t>
            </a:r>
            <a:r>
              <a:rPr sz="2000" dirty="0">
                <a:latin typeface="Cambria"/>
                <a:cs typeface="Cambria"/>
              </a:rPr>
              <a:t>between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100,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has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guess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4 </a:t>
            </a:r>
            <a:r>
              <a:rPr sz="2000" spc="-10" dirty="0">
                <a:latin typeface="Cambria"/>
                <a:cs typeface="Cambria"/>
              </a:rPr>
              <a:t>attempts</a:t>
            </a:r>
            <a:endParaRPr sz="2000" dirty="0">
              <a:latin typeface="Cambria"/>
              <a:cs typeface="Cambria"/>
            </a:endParaRPr>
          </a:p>
          <a:p>
            <a:pPr marL="12700" marR="5080">
              <a:lnSpc>
                <a:spcPct val="112300"/>
              </a:lnSpc>
              <a:spcBef>
                <a:spcPts val="1010"/>
              </a:spcBef>
            </a:pPr>
            <a:r>
              <a:rPr sz="2000" dirty="0">
                <a:latin typeface="Cambria"/>
                <a:cs typeface="Cambria"/>
              </a:rPr>
              <a:t>Bases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user's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guess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computer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give </a:t>
            </a:r>
            <a:r>
              <a:rPr sz="2000" dirty="0">
                <a:latin typeface="Cambria"/>
                <a:cs typeface="Cambria"/>
              </a:rPr>
              <a:t>various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hints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number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high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low.</a:t>
            </a:r>
            <a:r>
              <a:rPr sz="2000" spc="-20" dirty="0">
                <a:latin typeface="Cambria"/>
                <a:cs typeface="Cambria"/>
              </a:rPr>
              <a:t> When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guess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lang="en-US" sz="2000" spc="-30" dirty="0">
                <a:latin typeface="Cambria"/>
                <a:cs typeface="Cambria"/>
              </a:rPr>
              <a:t>matches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number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computer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will </a:t>
            </a:r>
            <a:r>
              <a:rPr sz="2000" dirty="0">
                <a:latin typeface="Cambria"/>
                <a:cs typeface="Cambria"/>
              </a:rPr>
              <a:t>print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answer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along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number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of </a:t>
            </a:r>
            <a:r>
              <a:rPr sz="2000" spc="-10" dirty="0">
                <a:latin typeface="Cambria"/>
                <a:cs typeface="Cambria"/>
              </a:rPr>
              <a:t>attempts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153" y="885189"/>
            <a:ext cx="1898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pc="-25" dirty="0"/>
              <a:t>3.</a:t>
            </a:r>
            <a:r>
              <a:rPr dirty="0"/>
              <a:t>	</a:t>
            </a:r>
            <a:r>
              <a:rPr spc="-10" dirty="0"/>
              <a:t>Purpose:-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0604" y="1464919"/>
            <a:ext cx="5151755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0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number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guessing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game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20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20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popular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D0D0D"/>
                </a:solidFill>
                <a:latin typeface="Calibri"/>
                <a:cs typeface="Calibri"/>
              </a:rPr>
              <a:t>game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among</a:t>
            </a:r>
            <a:r>
              <a:rPr sz="20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programmers.</a:t>
            </a:r>
            <a:r>
              <a:rPr sz="20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20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0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number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Calibri"/>
                <a:cs typeface="Calibri"/>
              </a:rPr>
              <a:t>guessing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game,</a:t>
            </a:r>
            <a:r>
              <a:rPr sz="20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program</a:t>
            </a:r>
            <a:r>
              <a:rPr sz="20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selects</a:t>
            </a:r>
            <a:r>
              <a:rPr sz="20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20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random</a:t>
            </a:r>
            <a:r>
              <a:rPr sz="20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Calibri"/>
                <a:cs typeface="Calibri"/>
              </a:rPr>
              <a:t>number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between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two</a:t>
            </a:r>
            <a:r>
              <a:rPr sz="2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numbers,</a:t>
            </a:r>
            <a:r>
              <a:rPr sz="20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0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0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user</a:t>
            </a:r>
            <a:r>
              <a:rPr sz="20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guesses</a:t>
            </a:r>
            <a:r>
              <a:rPr sz="20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D0D0D"/>
                </a:solidFill>
                <a:latin typeface="Calibri"/>
                <a:cs typeface="Calibri"/>
              </a:rPr>
              <a:t>the </a:t>
            </a: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correct</a:t>
            </a:r>
            <a:r>
              <a:rPr sz="2000" b="1" spc="-10" dirty="0">
                <a:solidFill>
                  <a:srgbClr val="0D0D0D"/>
                </a:solidFill>
                <a:latin typeface="Calibri"/>
                <a:cs typeface="Calibri"/>
              </a:rPr>
              <a:t> number.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153" y="885189"/>
            <a:ext cx="12363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pc="-25" dirty="0"/>
              <a:t>4.</a:t>
            </a:r>
            <a:r>
              <a:rPr dirty="0"/>
              <a:t>	</a:t>
            </a:r>
            <a:r>
              <a:rPr spc="-20" dirty="0"/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153" y="1343913"/>
            <a:ext cx="5262245" cy="3723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83540" indent="-457200">
              <a:lnSpc>
                <a:spcPct val="1121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Build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Number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guessing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game,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in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selects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range.</a:t>
            </a:r>
            <a:endParaRPr sz="2400">
              <a:latin typeface="Cambria"/>
              <a:cs typeface="Cambria"/>
            </a:endParaRPr>
          </a:p>
          <a:p>
            <a:pPr marL="469900" marR="5080" indent="-457200">
              <a:lnSpc>
                <a:spcPct val="1123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Let's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selected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range,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i.e.,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B,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where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belong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 </a:t>
            </a:r>
            <a:r>
              <a:rPr sz="2400" spc="-10" dirty="0">
                <a:latin typeface="Cambria"/>
                <a:cs typeface="Cambria"/>
              </a:rPr>
              <a:t>Integer.</a:t>
            </a:r>
            <a:endParaRPr sz="2400">
              <a:latin typeface="Cambria"/>
              <a:cs typeface="Cambria"/>
            </a:endParaRPr>
          </a:p>
          <a:p>
            <a:pPr marL="469900" marR="173355" indent="-457200">
              <a:lnSpc>
                <a:spcPct val="112400"/>
              </a:lnSpc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Some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random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integer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will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be </a:t>
            </a:r>
            <a:r>
              <a:rPr sz="2400" dirty="0">
                <a:latin typeface="Cambria"/>
                <a:cs typeface="Cambria"/>
              </a:rPr>
              <a:t>selected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user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guess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integer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minimum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number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guesses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153" y="885189"/>
            <a:ext cx="4685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b="0" spc="-25" dirty="0">
                <a:solidFill>
                  <a:srgbClr val="000000"/>
                </a:solidFill>
                <a:latin typeface="Cambria"/>
                <a:cs typeface="Cambria"/>
              </a:rPr>
              <a:t>4.</a:t>
            </a:r>
            <a:r>
              <a:rPr b="0" dirty="0">
                <a:solidFill>
                  <a:srgbClr val="000000"/>
                </a:solidFill>
                <a:latin typeface="Cambria"/>
                <a:cs typeface="Cambria"/>
              </a:rPr>
              <a:t>	Method</a:t>
            </a:r>
            <a:r>
              <a:rPr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b="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mbria"/>
                <a:cs typeface="Cambria"/>
              </a:rPr>
              <a:t>Implementation: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37160" indent="-228600">
              <a:lnSpc>
                <a:spcPct val="1124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dirty="0"/>
              <a:t>If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User</a:t>
            </a:r>
            <a:r>
              <a:rPr spc="-20" dirty="0"/>
              <a:t> </a:t>
            </a:r>
            <a:r>
              <a:rPr dirty="0"/>
              <a:t>inputs</a:t>
            </a:r>
            <a:r>
              <a:rPr spc="-20" dirty="0"/>
              <a:t> </a:t>
            </a:r>
            <a:r>
              <a:rPr dirty="0"/>
              <a:t>range,</a:t>
            </a:r>
            <a:r>
              <a:rPr spc="-25" dirty="0"/>
              <a:t> </a:t>
            </a:r>
            <a:r>
              <a:rPr dirty="0"/>
              <a:t>let's</a:t>
            </a:r>
            <a:r>
              <a:rPr spc="-30" dirty="0"/>
              <a:t> </a:t>
            </a:r>
            <a:r>
              <a:rPr dirty="0"/>
              <a:t>say</a:t>
            </a:r>
            <a:r>
              <a:rPr spc="-25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1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100.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compiler</a:t>
            </a:r>
            <a:r>
              <a:rPr spc="-25" dirty="0"/>
              <a:t> </a:t>
            </a:r>
            <a:r>
              <a:rPr dirty="0"/>
              <a:t>randomly</a:t>
            </a:r>
            <a:r>
              <a:rPr spc="-20" dirty="0"/>
              <a:t> </a:t>
            </a:r>
            <a:r>
              <a:rPr dirty="0"/>
              <a:t>selected</a:t>
            </a:r>
            <a:r>
              <a:rPr spc="-35" dirty="0"/>
              <a:t> </a:t>
            </a:r>
            <a:r>
              <a:rPr dirty="0"/>
              <a:t>42</a:t>
            </a:r>
            <a:r>
              <a:rPr spc="-25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integer.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now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guessing</a:t>
            </a:r>
            <a:r>
              <a:rPr spc="-30" dirty="0"/>
              <a:t> </a:t>
            </a:r>
            <a:r>
              <a:rPr dirty="0"/>
              <a:t>game</a:t>
            </a:r>
            <a:r>
              <a:rPr spc="-15" dirty="0"/>
              <a:t> </a:t>
            </a:r>
            <a:r>
              <a:rPr dirty="0"/>
              <a:t>started,</a:t>
            </a:r>
            <a:r>
              <a:rPr spc="-25" dirty="0"/>
              <a:t> </a:t>
            </a:r>
            <a:r>
              <a:rPr dirty="0"/>
              <a:t>so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20" dirty="0"/>
              <a:t>user </a:t>
            </a:r>
            <a:r>
              <a:rPr dirty="0"/>
              <a:t>entered</a:t>
            </a:r>
            <a:r>
              <a:rPr spc="-30" dirty="0"/>
              <a:t> </a:t>
            </a:r>
            <a:r>
              <a:rPr dirty="0"/>
              <a:t>50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his/her</a:t>
            </a:r>
            <a:r>
              <a:rPr spc="-25" dirty="0"/>
              <a:t> </a:t>
            </a:r>
            <a:r>
              <a:rPr dirty="0"/>
              <a:t>first</a:t>
            </a:r>
            <a:r>
              <a:rPr spc="-35" dirty="0"/>
              <a:t> </a:t>
            </a:r>
            <a:r>
              <a:rPr dirty="0"/>
              <a:t>guess.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compiler </a:t>
            </a:r>
            <a:r>
              <a:rPr dirty="0"/>
              <a:t>shows</a:t>
            </a:r>
            <a:r>
              <a:rPr spc="-25" dirty="0"/>
              <a:t> </a:t>
            </a:r>
            <a:r>
              <a:rPr dirty="0"/>
              <a:t>"Too</a:t>
            </a:r>
            <a:r>
              <a:rPr spc="-10" dirty="0"/>
              <a:t> high!"</a:t>
            </a:r>
          </a:p>
          <a:p>
            <a:pPr marL="241300" marR="220345" indent="-228600">
              <a:lnSpc>
                <a:spcPct val="112200"/>
              </a:lnSpc>
              <a:buAutoNum type="arabicPeriod"/>
              <a:tabLst>
                <a:tab pos="241300" algn="l"/>
              </a:tabLst>
            </a:pPr>
            <a:r>
              <a:rPr dirty="0"/>
              <a:t>That's</a:t>
            </a:r>
            <a:r>
              <a:rPr spc="-35" dirty="0"/>
              <a:t> </a:t>
            </a:r>
            <a:r>
              <a:rPr dirty="0"/>
              <a:t>mean</a:t>
            </a:r>
            <a:r>
              <a:rPr spc="-3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random</a:t>
            </a:r>
            <a:r>
              <a:rPr spc="-30" dirty="0"/>
              <a:t> </a:t>
            </a:r>
            <a:r>
              <a:rPr dirty="0"/>
              <a:t>number</a:t>
            </a:r>
            <a:r>
              <a:rPr spc="-25" dirty="0"/>
              <a:t> </a:t>
            </a:r>
            <a:r>
              <a:rPr dirty="0"/>
              <a:t>(i.c.,</a:t>
            </a:r>
            <a:r>
              <a:rPr spc="-30" dirty="0"/>
              <a:t> </a:t>
            </a:r>
            <a:r>
              <a:rPr dirty="0"/>
              <a:t>42)</a:t>
            </a:r>
            <a:r>
              <a:rPr spc="-30" dirty="0"/>
              <a:t> </a:t>
            </a:r>
            <a:r>
              <a:rPr spc="-10" dirty="0"/>
              <a:t>doesn't </a:t>
            </a:r>
            <a:r>
              <a:rPr dirty="0"/>
              <a:t>fall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range</a:t>
            </a:r>
            <a:r>
              <a:rPr spc="-2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50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100.</a:t>
            </a:r>
            <a:r>
              <a:rPr spc="-30" dirty="0"/>
              <a:t> </a:t>
            </a:r>
            <a:r>
              <a:rPr dirty="0"/>
              <a:t>That's</a:t>
            </a:r>
            <a:r>
              <a:rPr spc="-35" dirty="0"/>
              <a:t> </a:t>
            </a:r>
            <a:r>
              <a:rPr spc="-25" dirty="0"/>
              <a:t>the</a:t>
            </a:r>
          </a:p>
          <a:p>
            <a:pPr marL="241300" marR="5080">
              <a:lnSpc>
                <a:spcPct val="112200"/>
              </a:lnSpc>
              <a:spcBef>
                <a:spcPts val="15"/>
              </a:spcBef>
            </a:pPr>
            <a:r>
              <a:rPr dirty="0"/>
              <a:t>importance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guessing</a:t>
            </a:r>
            <a:r>
              <a:rPr spc="-20" dirty="0"/>
              <a:t> </a:t>
            </a:r>
            <a:r>
              <a:rPr dirty="0"/>
              <a:t>half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range.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again,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</a:t>
            </a:r>
            <a:r>
              <a:rPr spc="-20" dirty="0"/>
              <a:t> </a:t>
            </a:r>
            <a:r>
              <a:rPr dirty="0"/>
              <a:t>guesses</a:t>
            </a:r>
            <a:r>
              <a:rPr spc="-30" dirty="0"/>
              <a:t> </a:t>
            </a:r>
            <a:r>
              <a:rPr dirty="0"/>
              <a:t>half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50</a:t>
            </a:r>
            <a:r>
              <a:rPr spc="-20" dirty="0"/>
              <a:t> </a:t>
            </a:r>
            <a:r>
              <a:rPr dirty="0"/>
              <a:t>(Could</a:t>
            </a:r>
            <a:r>
              <a:rPr spc="-20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tell</a:t>
            </a:r>
            <a:r>
              <a:rPr spc="-25" dirty="0"/>
              <a:t> me </a:t>
            </a:r>
            <a:r>
              <a:rPr dirty="0"/>
              <a:t>why?).</a:t>
            </a:r>
            <a:r>
              <a:rPr spc="-25" dirty="0"/>
              <a:t> </a:t>
            </a:r>
            <a:r>
              <a:rPr dirty="0"/>
              <a:t>So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half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50</a:t>
            </a:r>
            <a:r>
              <a:rPr spc="-1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25.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user</a:t>
            </a:r>
            <a:r>
              <a:rPr spc="-20" dirty="0"/>
              <a:t> </a:t>
            </a:r>
            <a:r>
              <a:rPr dirty="0"/>
              <a:t>enters</a:t>
            </a:r>
            <a:r>
              <a:rPr spc="-10" dirty="0"/>
              <a:t> </a:t>
            </a:r>
            <a:r>
              <a:rPr dirty="0"/>
              <a:t>25</a:t>
            </a:r>
            <a:r>
              <a:rPr spc="-15" dirty="0"/>
              <a:t> </a:t>
            </a:r>
            <a:r>
              <a:rPr spc="-25" dirty="0"/>
              <a:t>as </a:t>
            </a:r>
            <a:r>
              <a:rPr dirty="0"/>
              <a:t>his/her</a:t>
            </a:r>
            <a:r>
              <a:rPr spc="-25" dirty="0"/>
              <a:t> </a:t>
            </a:r>
            <a:r>
              <a:rPr dirty="0"/>
              <a:t>second</a:t>
            </a:r>
            <a:r>
              <a:rPr spc="-25" dirty="0"/>
              <a:t> </a:t>
            </a:r>
            <a:r>
              <a:rPr dirty="0"/>
              <a:t>guess.</a:t>
            </a:r>
            <a:r>
              <a:rPr spc="-30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compiler</a:t>
            </a:r>
            <a:r>
              <a:rPr spc="-25" dirty="0"/>
              <a:t> </a:t>
            </a:r>
            <a:r>
              <a:rPr spc="-20" dirty="0"/>
              <a:t>will</a:t>
            </a:r>
            <a:r>
              <a:rPr spc="500" dirty="0"/>
              <a:t> </a:t>
            </a:r>
            <a:r>
              <a:rPr dirty="0"/>
              <a:t>show,</a:t>
            </a:r>
            <a:r>
              <a:rPr spc="-20" dirty="0"/>
              <a:t> </a:t>
            </a:r>
            <a:r>
              <a:rPr dirty="0"/>
              <a:t>"Too</a:t>
            </a:r>
            <a:r>
              <a:rPr spc="-15" dirty="0"/>
              <a:t> </a:t>
            </a:r>
            <a:r>
              <a:rPr spc="-10" dirty="0"/>
              <a:t>low"3.</a:t>
            </a:r>
          </a:p>
          <a:p>
            <a:pPr marL="241300" marR="36830" indent="-228600">
              <a:lnSpc>
                <a:spcPct val="112300"/>
              </a:lnSpc>
              <a:spcBef>
                <a:spcPts val="10"/>
              </a:spcBef>
              <a:buAutoNum type="arabicPeriod" startAt="3"/>
              <a:tabLst>
                <a:tab pos="241300" algn="l"/>
              </a:tabLst>
            </a:pPr>
            <a:r>
              <a:rPr dirty="0"/>
              <a:t>That's</a:t>
            </a:r>
            <a:r>
              <a:rPr spc="-30" dirty="0"/>
              <a:t> </a:t>
            </a:r>
            <a:r>
              <a:rPr dirty="0"/>
              <a:t>mean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integers</a:t>
            </a:r>
            <a:r>
              <a:rPr spc="-30" dirty="0"/>
              <a:t> </a:t>
            </a:r>
            <a:r>
              <a:rPr dirty="0"/>
              <a:t>less</a:t>
            </a:r>
            <a:r>
              <a:rPr spc="-30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dirty="0"/>
              <a:t>25</a:t>
            </a:r>
            <a:r>
              <a:rPr spc="-20" dirty="0"/>
              <a:t> </a:t>
            </a:r>
            <a:r>
              <a:rPr dirty="0"/>
              <a:t>(from</a:t>
            </a:r>
            <a:r>
              <a:rPr spc="-20" dirty="0"/>
              <a:t> </a:t>
            </a:r>
            <a:r>
              <a:rPr dirty="0"/>
              <a:t>1</a:t>
            </a:r>
            <a:r>
              <a:rPr spc="-15" dirty="0"/>
              <a:t> </a:t>
            </a:r>
            <a:r>
              <a:rPr spc="-25" dirty="0"/>
              <a:t>to </a:t>
            </a:r>
            <a:r>
              <a:rPr dirty="0"/>
              <a:t>25)</a:t>
            </a:r>
            <a:r>
              <a:rPr spc="-3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useless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guessed.</a:t>
            </a:r>
            <a:r>
              <a:rPr spc="-15" dirty="0"/>
              <a:t> </a:t>
            </a:r>
            <a:r>
              <a:rPr dirty="0"/>
              <a:t>Now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range</a:t>
            </a:r>
            <a:r>
              <a:rPr spc="-25" dirty="0"/>
              <a:t> for </a:t>
            </a:r>
            <a:r>
              <a:rPr dirty="0"/>
              <a:t>user</a:t>
            </a:r>
            <a:r>
              <a:rPr spc="-30" dirty="0"/>
              <a:t> </a:t>
            </a:r>
            <a:r>
              <a:rPr dirty="0"/>
              <a:t>guessing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shorter,</a:t>
            </a:r>
            <a:r>
              <a:rPr spc="-30" dirty="0"/>
              <a:t> </a:t>
            </a:r>
            <a:r>
              <a:rPr dirty="0"/>
              <a:t>i.c.,</a:t>
            </a:r>
            <a:r>
              <a:rPr spc="-35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25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50. </a:t>
            </a:r>
            <a:r>
              <a:rPr dirty="0"/>
              <a:t>Intelligently!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</a:t>
            </a:r>
            <a:r>
              <a:rPr spc="-25" dirty="0"/>
              <a:t> </a:t>
            </a:r>
            <a:r>
              <a:rPr dirty="0"/>
              <a:t>guessed</a:t>
            </a:r>
            <a:r>
              <a:rPr spc="-25" dirty="0"/>
              <a:t> </a:t>
            </a:r>
            <a:r>
              <a:rPr dirty="0"/>
              <a:t>half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range,</a:t>
            </a:r>
            <a:r>
              <a:rPr spc="-25" dirty="0"/>
              <a:t> so </a:t>
            </a:r>
            <a:r>
              <a:rPr dirty="0"/>
              <a:t>that,</a:t>
            </a:r>
            <a:r>
              <a:rPr spc="-40" dirty="0"/>
              <a:t> </a:t>
            </a:r>
            <a:r>
              <a:rPr dirty="0"/>
              <a:t>user</a:t>
            </a:r>
            <a:r>
              <a:rPr spc="-30" dirty="0"/>
              <a:t> </a:t>
            </a:r>
            <a:r>
              <a:rPr dirty="0"/>
              <a:t>guessed</a:t>
            </a:r>
            <a:r>
              <a:rPr spc="-40" dirty="0"/>
              <a:t> </a:t>
            </a:r>
            <a:r>
              <a:rPr dirty="0"/>
              <a:t>37</a:t>
            </a:r>
            <a:r>
              <a:rPr spc="-30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his/her</a:t>
            </a:r>
            <a:r>
              <a:rPr spc="-30" dirty="0"/>
              <a:t> </a:t>
            </a:r>
            <a:r>
              <a:rPr dirty="0"/>
              <a:t>third</a:t>
            </a:r>
            <a:r>
              <a:rPr spc="-30" dirty="0"/>
              <a:t> </a:t>
            </a:r>
            <a:r>
              <a:rPr dirty="0"/>
              <a:t>guess.</a:t>
            </a:r>
            <a:r>
              <a:rPr spc="-35" dirty="0"/>
              <a:t> </a:t>
            </a:r>
            <a:r>
              <a:rPr spc="-20" dirty="0"/>
              <a:t>This 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again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compiler</a:t>
            </a:r>
            <a:r>
              <a:rPr spc="-35" dirty="0"/>
              <a:t> </a:t>
            </a:r>
            <a:r>
              <a:rPr dirty="0"/>
              <a:t>shows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output,</a:t>
            </a:r>
            <a:r>
              <a:rPr spc="-35" dirty="0"/>
              <a:t> </a:t>
            </a:r>
            <a:r>
              <a:rPr spc="-20" dirty="0"/>
              <a:t>"Too low”</a:t>
            </a:r>
          </a:p>
          <a:p>
            <a:pPr marL="241300" indent="-228600">
              <a:lnSpc>
                <a:spcPct val="100000"/>
              </a:lnSpc>
              <a:spcBef>
                <a:spcPts val="260"/>
              </a:spcBef>
              <a:buAutoNum type="arabicPeriod" startAt="3"/>
              <a:tabLst>
                <a:tab pos="241300" algn="l"/>
              </a:tabLst>
            </a:pPr>
            <a:r>
              <a:rPr dirty="0"/>
              <a:t>For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user,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guessing</a:t>
            </a:r>
            <a:r>
              <a:rPr spc="-30" dirty="0"/>
              <a:t> </a:t>
            </a:r>
            <a:r>
              <a:rPr dirty="0"/>
              <a:t>range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getting</a:t>
            </a:r>
            <a:r>
              <a:rPr spc="-35" dirty="0"/>
              <a:t> </a:t>
            </a:r>
            <a:r>
              <a:rPr spc="-10" dirty="0"/>
              <a:t>smaller</a:t>
            </a:r>
          </a:p>
          <a:p>
            <a:pPr marL="241300" marR="186690">
              <a:lnSpc>
                <a:spcPct val="112200"/>
              </a:lnSpc>
              <a:spcBef>
                <a:spcPts val="15"/>
              </a:spcBef>
            </a:pPr>
            <a:r>
              <a:rPr dirty="0"/>
              <a:t>by</a:t>
            </a:r>
            <a:r>
              <a:rPr spc="-40" dirty="0"/>
              <a:t> </a:t>
            </a:r>
            <a:r>
              <a:rPr dirty="0"/>
              <a:t>each</a:t>
            </a:r>
            <a:r>
              <a:rPr spc="-30" dirty="0"/>
              <a:t> </a:t>
            </a:r>
            <a:r>
              <a:rPr dirty="0"/>
              <a:t>guess.</a:t>
            </a:r>
            <a:r>
              <a:rPr spc="-20" dirty="0"/>
              <a:t> </a:t>
            </a:r>
            <a:r>
              <a:rPr dirty="0"/>
              <a:t>Now,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guessing</a:t>
            </a:r>
            <a:r>
              <a:rPr spc="-35" dirty="0"/>
              <a:t> </a:t>
            </a:r>
            <a:r>
              <a:rPr dirty="0"/>
              <a:t>range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user</a:t>
            </a:r>
            <a:r>
              <a:rPr spc="-30" dirty="0"/>
              <a:t> </a:t>
            </a:r>
            <a:r>
              <a:rPr spc="-25" dirty="0"/>
              <a:t>is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37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50,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</a:t>
            </a:r>
            <a:r>
              <a:rPr spc="-30" dirty="0"/>
              <a:t> </a:t>
            </a:r>
            <a:r>
              <a:rPr dirty="0"/>
              <a:t>guessed</a:t>
            </a:r>
            <a:r>
              <a:rPr spc="-25" dirty="0"/>
              <a:t> </a:t>
            </a:r>
            <a:r>
              <a:rPr dirty="0"/>
              <a:t>43</a:t>
            </a:r>
            <a:r>
              <a:rPr spc="-40" dirty="0"/>
              <a:t> </a:t>
            </a:r>
            <a:r>
              <a:rPr spc="-25" dirty="0"/>
              <a:t>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153" y="857758"/>
            <a:ext cx="5281295" cy="341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21310" algn="just">
              <a:lnSpc>
                <a:spcPct val="1122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his/her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fourth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guess.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time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compiler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will </a:t>
            </a:r>
            <a:r>
              <a:rPr sz="1800" dirty="0">
                <a:latin typeface="Cambria"/>
                <a:cs typeface="Cambria"/>
              </a:rPr>
              <a:t>show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"Too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high!"</a:t>
            </a:r>
            <a:endParaRPr sz="1800">
              <a:latin typeface="Cambria"/>
              <a:cs typeface="Cambria"/>
            </a:endParaRPr>
          </a:p>
          <a:p>
            <a:pPr marL="240665" indent="-227965" algn="just">
              <a:lnSpc>
                <a:spcPct val="100000"/>
              </a:lnSpc>
              <a:spcBef>
                <a:spcPts val="265"/>
              </a:spcBef>
              <a:buAutoNum type="arabicPeriod" startAt="5"/>
              <a:tabLst>
                <a:tab pos="240665" algn="l"/>
              </a:tabLst>
            </a:pPr>
            <a:r>
              <a:rPr sz="1800" dirty="0">
                <a:latin typeface="Cambria"/>
                <a:cs typeface="Cambria"/>
              </a:rPr>
              <a:t>So,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new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guessing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range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from</a:t>
            </a:r>
            <a:endParaRPr sz="1800">
              <a:latin typeface="Cambria"/>
              <a:cs typeface="Cambria"/>
            </a:endParaRPr>
          </a:p>
          <a:p>
            <a:pPr marL="241300" marR="149225" algn="just">
              <a:lnSpc>
                <a:spcPct val="112200"/>
              </a:lnSpc>
              <a:spcBef>
                <a:spcPts val="10"/>
              </a:spcBef>
            </a:pPr>
            <a:r>
              <a:rPr sz="1800" dirty="0">
                <a:latin typeface="Cambria"/>
                <a:cs typeface="Cambria"/>
              </a:rPr>
              <a:t>37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43,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again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guessed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half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range,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his/her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fifth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guess.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This </a:t>
            </a:r>
            <a:r>
              <a:rPr sz="1800" dirty="0">
                <a:latin typeface="Cambria"/>
                <a:cs typeface="Cambria"/>
              </a:rPr>
              <a:t>time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compiler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shows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"Too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low"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AutoNum type="arabicPeriod" startAt="6"/>
              <a:tabLst>
                <a:tab pos="240665" algn="l"/>
              </a:tabLst>
            </a:pPr>
            <a:r>
              <a:rPr sz="1800" dirty="0">
                <a:latin typeface="Cambria"/>
                <a:cs typeface="Cambria"/>
              </a:rPr>
              <a:t>Leaving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even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smaller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41</a:t>
            </a:r>
            <a:endParaRPr sz="1800">
              <a:latin typeface="Cambria"/>
              <a:cs typeface="Cambria"/>
            </a:endParaRPr>
          </a:p>
          <a:p>
            <a:pPr marL="241300" marR="5080">
              <a:lnSpc>
                <a:spcPct val="112200"/>
              </a:lnSpc>
              <a:spcBef>
                <a:spcPts val="15"/>
              </a:spcBef>
            </a:pP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43.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now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41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his/her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sixth </a:t>
            </a:r>
            <a:r>
              <a:rPr sz="1800" dirty="0">
                <a:latin typeface="Cambria"/>
                <a:cs typeface="Cambria"/>
              </a:rPr>
              <a:t>guess.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wrong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shows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output.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And </a:t>
            </a:r>
            <a:r>
              <a:rPr sz="1800" dirty="0">
                <a:latin typeface="Cambria"/>
                <a:cs typeface="Cambria"/>
              </a:rPr>
              <a:t>finally,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Guessed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right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number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is </a:t>
            </a:r>
            <a:r>
              <a:rPr sz="1800" dirty="0">
                <a:latin typeface="Cambria"/>
                <a:cs typeface="Cambria"/>
              </a:rPr>
              <a:t>42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his/her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seventh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guess.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153" y="885189"/>
            <a:ext cx="6184647" cy="6383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600" spc="-25" dirty="0"/>
              <a:t>5.</a:t>
            </a:r>
            <a:r>
              <a:rPr sz="2600" dirty="0"/>
              <a:t>	</a:t>
            </a:r>
            <a:r>
              <a:rPr sz="2600" spc="-10" dirty="0"/>
              <a:t>Algorithm:</a:t>
            </a:r>
            <a:br>
              <a:rPr lang="en-US" sz="2600" spc="-10" dirty="0"/>
            </a:br>
            <a:br>
              <a:rPr lang="en-IN" sz="2600" spc="-10" dirty="0"/>
            </a:br>
            <a:r>
              <a:rPr lang="en-US" sz="2400" dirty="0"/>
              <a:t>Step1: Start </a:t>
            </a:r>
            <a:br>
              <a:rPr lang="en-US" sz="2400" dirty="0"/>
            </a:br>
            <a:r>
              <a:rPr lang="en-US" sz="2400" dirty="0"/>
              <a:t>Step 2: Include necessary header files (</a:t>
            </a:r>
            <a:r>
              <a:rPr lang="en-US" sz="2400" dirty="0" err="1"/>
              <a:t>stdio.h</a:t>
            </a:r>
            <a:r>
              <a:rPr lang="en-US" sz="2400" dirty="0"/>
              <a:t>,                  </a:t>
            </a:r>
            <a:r>
              <a:rPr lang="en-US" sz="2400" dirty="0" err="1"/>
              <a:t>stdlib.h</a:t>
            </a:r>
            <a:r>
              <a:rPr lang="en-US" sz="2400" dirty="0"/>
              <a:t>, </a:t>
            </a:r>
            <a:r>
              <a:rPr lang="en-US" sz="2400" dirty="0" err="1"/>
              <a:t>time.h</a:t>
            </a:r>
            <a:r>
              <a:rPr lang="en-US" sz="2400" dirty="0"/>
              <a:t>) </a:t>
            </a:r>
            <a:br>
              <a:rPr lang="en-US" sz="2400" dirty="0"/>
            </a:br>
            <a:r>
              <a:rPr lang="en-US" sz="2400" dirty="0"/>
              <a:t>Step3: Initialize random number generator using </a:t>
            </a:r>
            <a:r>
              <a:rPr lang="en-US" sz="2400" dirty="0" err="1"/>
              <a:t>srand</a:t>
            </a:r>
            <a:r>
              <a:rPr lang="en-US" sz="2400" dirty="0"/>
              <a:t>(time(0)) </a:t>
            </a:r>
            <a:br>
              <a:rPr lang="en-US" sz="2400" dirty="0"/>
            </a:br>
            <a:r>
              <a:rPr lang="en-US" sz="2400" dirty="0"/>
              <a:t>Step 4: Generate random number between 1 and 100 </a:t>
            </a:r>
            <a:br>
              <a:rPr lang="en-US" sz="2400" dirty="0"/>
            </a:br>
            <a:r>
              <a:rPr lang="en-US" sz="2400" dirty="0"/>
              <a:t>Step 5: Ask user to guess the number </a:t>
            </a:r>
            <a:br>
              <a:rPr lang="en-US" sz="2400" dirty="0"/>
            </a:br>
            <a:r>
              <a:rPr lang="en-US" sz="2400" dirty="0"/>
              <a:t>Step 6: Compare guess with generated number </a:t>
            </a:r>
            <a:br>
              <a:rPr lang="en-US" sz="2400" dirty="0"/>
            </a:br>
            <a:r>
              <a:rPr lang="en-US" sz="2400" dirty="0"/>
              <a:t>Step 7: Display 'Too High' or 'Too Low' based on comparison </a:t>
            </a:r>
            <a:br>
              <a:rPr lang="en-US" sz="2400" dirty="0"/>
            </a:br>
            <a:r>
              <a:rPr lang="en-US" sz="2400" dirty="0"/>
              <a:t>Step 8: Repeat steps 5–7 until correct guess </a:t>
            </a:r>
            <a:br>
              <a:rPr lang="en-US" sz="2400" dirty="0"/>
            </a:br>
            <a:r>
              <a:rPr lang="en-US" sz="2400" dirty="0"/>
              <a:t>Step 9: Display success message and number of attempts </a:t>
            </a:r>
            <a:br>
              <a:rPr lang="en-US" sz="2400" dirty="0"/>
            </a:br>
            <a:r>
              <a:rPr lang="en-US" sz="2400" dirty="0"/>
              <a:t>Step 10: Stop</a:t>
            </a:r>
            <a:r>
              <a:rPr sz="2600" spc="-10" dirty="0"/>
              <a:t>-</a:t>
            </a:r>
            <a:endParaRPr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1359153" y="1482598"/>
            <a:ext cx="539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D0D0D"/>
                </a:solidFill>
                <a:latin typeface="Calibri"/>
                <a:cs typeface="Calibri"/>
              </a:rPr>
              <a:t>Steps: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057" y="76200"/>
            <a:ext cx="580364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pc="-25" dirty="0">
                <a:solidFill>
                  <a:srgbClr val="000000"/>
                </a:solidFill>
                <a:latin typeface="Cambria"/>
                <a:cs typeface="Cambria"/>
              </a:rPr>
              <a:t>6.</a:t>
            </a:r>
            <a:r>
              <a:rPr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pc="-10" dirty="0">
                <a:solidFill>
                  <a:srgbClr val="000000"/>
                </a:solidFill>
                <a:latin typeface="Cambria"/>
                <a:cs typeface="Cambria"/>
              </a:rPr>
              <a:t>CODE: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7543800"/>
            <a:ext cx="5149532" cy="21443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469265" algn="l"/>
              </a:tabLst>
            </a:pPr>
            <a:r>
              <a:rPr sz="2800" b="1" spc="-25" dirty="0">
                <a:latin typeface="Cambria"/>
                <a:cs typeface="Cambria"/>
              </a:rPr>
              <a:t>7.</a:t>
            </a:r>
            <a:r>
              <a:rPr sz="2800" b="1" dirty="0">
                <a:latin typeface="Cambria"/>
                <a:cs typeface="Cambria"/>
              </a:rPr>
              <a:t>	</a:t>
            </a:r>
            <a:r>
              <a:rPr sz="2800" b="1" spc="-10" dirty="0">
                <a:latin typeface="Cambria"/>
                <a:cs typeface="Cambria"/>
              </a:rPr>
              <a:t>CONCLUSION</a:t>
            </a:r>
            <a:endParaRPr sz="2800" dirty="0">
              <a:latin typeface="Cambria"/>
              <a:cs typeface="Cambria"/>
            </a:endParaRPr>
          </a:p>
          <a:p>
            <a:pPr marL="469900" marR="5080">
              <a:lnSpc>
                <a:spcPct val="112400"/>
              </a:lnSpc>
              <a:spcBef>
                <a:spcPts val="95"/>
              </a:spcBef>
            </a:pPr>
            <a:r>
              <a:rPr sz="2400" b="1" dirty="0">
                <a:latin typeface="Cambria"/>
                <a:cs typeface="Cambria"/>
              </a:rPr>
              <a:t>So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this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is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how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you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can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write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a </a:t>
            </a:r>
            <a:r>
              <a:rPr sz="2400" b="1" spc="-10" dirty="0">
                <a:latin typeface="Cambria"/>
                <a:cs typeface="Cambria"/>
              </a:rPr>
              <a:t>program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to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create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guessing </a:t>
            </a:r>
            <a:r>
              <a:rPr sz="2400" b="1" dirty="0">
                <a:latin typeface="Cambria"/>
                <a:cs typeface="Cambria"/>
              </a:rPr>
              <a:t>game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using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.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In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this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game,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spc="-25" dirty="0">
                <a:latin typeface="Cambria"/>
                <a:cs typeface="Cambria"/>
              </a:rPr>
              <a:t>the </a:t>
            </a:r>
            <a:r>
              <a:rPr sz="2400" b="1" spc="-10" dirty="0">
                <a:latin typeface="Cambria"/>
                <a:cs typeface="Cambria"/>
              </a:rPr>
              <a:t>program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selects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random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E661D-8C6C-F192-4828-2E6B996907EA}"/>
              </a:ext>
            </a:extLst>
          </p:cNvPr>
          <p:cNvSpPr txBox="1"/>
          <p:nvPr/>
        </p:nvSpPr>
        <p:spPr>
          <a:xfrm>
            <a:off x="457200" y="526494"/>
            <a:ext cx="74676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#include &lt;</a:t>
            </a:r>
            <a:r>
              <a:rPr lang="en-IN" b="1" dirty="0" err="1"/>
              <a:t>stdio.h</a:t>
            </a:r>
            <a:r>
              <a:rPr lang="en-IN" b="1" dirty="0"/>
              <a:t>&gt;</a:t>
            </a:r>
          </a:p>
          <a:p>
            <a:r>
              <a:rPr lang="en-IN" b="1" dirty="0"/>
              <a:t>#include &lt;</a:t>
            </a:r>
            <a:r>
              <a:rPr lang="en-IN" b="1" dirty="0" err="1"/>
              <a:t>stdlib.h</a:t>
            </a:r>
            <a:r>
              <a:rPr lang="en-IN" b="1" dirty="0"/>
              <a:t>&gt;</a:t>
            </a:r>
          </a:p>
          <a:p>
            <a:r>
              <a:rPr lang="en-IN" b="1" dirty="0"/>
              <a:t>#include &lt;</a:t>
            </a:r>
            <a:r>
              <a:rPr lang="en-IN" b="1" dirty="0" err="1"/>
              <a:t>time.h</a:t>
            </a:r>
            <a:r>
              <a:rPr lang="en-IN" b="1" dirty="0"/>
              <a:t>&gt;</a:t>
            </a:r>
          </a:p>
          <a:p>
            <a:r>
              <a:rPr lang="en-IN" b="1" dirty="0"/>
              <a:t>int main() {</a:t>
            </a:r>
          </a:p>
          <a:p>
            <a:r>
              <a:rPr lang="en-IN" b="1" dirty="0"/>
              <a:t> int number, guess, attempts = 0;</a:t>
            </a:r>
          </a:p>
          <a:p>
            <a:endParaRPr lang="en-IN" b="1" dirty="0"/>
          </a:p>
          <a:p>
            <a:r>
              <a:rPr lang="en-IN" b="1" dirty="0"/>
              <a:t> </a:t>
            </a:r>
            <a:r>
              <a:rPr lang="en-IN" b="1" dirty="0" err="1"/>
              <a:t>srand</a:t>
            </a:r>
            <a:r>
              <a:rPr lang="en-IN" b="1" dirty="0"/>
              <a:t>(time(0));</a:t>
            </a:r>
          </a:p>
          <a:p>
            <a:r>
              <a:rPr lang="en-IN" b="1" dirty="0"/>
              <a:t> number = rand() % 100 + 1; // Random number between 1 and 100</a:t>
            </a:r>
          </a:p>
          <a:p>
            <a:r>
              <a:rPr lang="en-IN" b="1" dirty="0"/>
              <a:t> </a:t>
            </a:r>
            <a:r>
              <a:rPr lang="en-IN" b="1" dirty="0" err="1"/>
              <a:t>printf</a:t>
            </a:r>
            <a:r>
              <a:rPr lang="en-IN" b="1" dirty="0"/>
              <a:t>("Welcome to the Number Guessing Game!\n");</a:t>
            </a:r>
          </a:p>
          <a:p>
            <a:r>
              <a:rPr lang="en-IN" b="1" dirty="0"/>
              <a:t> </a:t>
            </a:r>
            <a:r>
              <a:rPr lang="en-IN" b="1" dirty="0" err="1"/>
              <a:t>printf</a:t>
            </a:r>
            <a:r>
              <a:rPr lang="en-IN" b="1" dirty="0"/>
              <a:t>("Guess the number between 1 and 100.\n");</a:t>
            </a:r>
          </a:p>
          <a:p>
            <a:r>
              <a:rPr lang="en-IN" b="1" dirty="0"/>
              <a:t> do {</a:t>
            </a:r>
          </a:p>
          <a:p>
            <a:r>
              <a:rPr lang="en-IN" b="1" dirty="0"/>
              <a:t> </a:t>
            </a:r>
            <a:r>
              <a:rPr lang="en-IN" b="1" dirty="0" err="1"/>
              <a:t>printf</a:t>
            </a:r>
            <a:r>
              <a:rPr lang="en-IN" b="1" dirty="0"/>
              <a:t>("Enter your guess: ");</a:t>
            </a:r>
          </a:p>
          <a:p>
            <a:r>
              <a:rPr lang="en-IN" b="1" dirty="0"/>
              <a:t> </a:t>
            </a:r>
            <a:r>
              <a:rPr lang="en-IN" b="1" dirty="0" err="1"/>
              <a:t>scanf</a:t>
            </a:r>
            <a:r>
              <a:rPr lang="en-IN" b="1" dirty="0"/>
              <a:t>("%d", &amp;guess);</a:t>
            </a:r>
          </a:p>
          <a:p>
            <a:r>
              <a:rPr lang="en-IN" b="1" dirty="0"/>
              <a:t> attempts++;</a:t>
            </a:r>
          </a:p>
          <a:p>
            <a:r>
              <a:rPr lang="en-IN" b="1" dirty="0"/>
              <a:t> if (guess &gt; number) {</a:t>
            </a:r>
          </a:p>
          <a:p>
            <a:r>
              <a:rPr lang="en-IN" b="1" dirty="0"/>
              <a:t> </a:t>
            </a:r>
            <a:r>
              <a:rPr lang="en-IN" b="1" dirty="0" err="1"/>
              <a:t>printf</a:t>
            </a:r>
            <a:r>
              <a:rPr lang="en-IN" b="1" dirty="0"/>
              <a:t>("Too high!\n");</a:t>
            </a:r>
          </a:p>
          <a:p>
            <a:r>
              <a:rPr lang="en-IN" b="1" dirty="0"/>
              <a:t> } else if (guess &lt; number) {</a:t>
            </a:r>
          </a:p>
          <a:p>
            <a:r>
              <a:rPr lang="en-IN" b="1" dirty="0"/>
              <a:t> </a:t>
            </a:r>
            <a:r>
              <a:rPr lang="en-IN" b="1" dirty="0" err="1"/>
              <a:t>printf</a:t>
            </a:r>
            <a:r>
              <a:rPr lang="en-IN" b="1" dirty="0"/>
              <a:t>("Too low!\n");</a:t>
            </a:r>
          </a:p>
          <a:p>
            <a:r>
              <a:rPr lang="en-IN" b="1" dirty="0"/>
              <a:t> } else {</a:t>
            </a:r>
          </a:p>
          <a:p>
            <a:r>
              <a:rPr lang="en-IN" b="1" dirty="0"/>
              <a:t> </a:t>
            </a:r>
            <a:r>
              <a:rPr lang="en-IN" b="1" dirty="0" err="1"/>
              <a:t>printf</a:t>
            </a:r>
            <a:r>
              <a:rPr lang="en-IN" b="1" dirty="0"/>
              <a:t>("Congratulations! You guessed it right in %d attempts.\n", attempts);</a:t>
            </a:r>
          </a:p>
          <a:p>
            <a:r>
              <a:rPr lang="en-IN" b="1" dirty="0"/>
              <a:t> }</a:t>
            </a:r>
          </a:p>
          <a:p>
            <a:r>
              <a:rPr lang="en-IN" b="1" dirty="0"/>
              <a:t> } while (guess != number);</a:t>
            </a:r>
          </a:p>
          <a:p>
            <a:r>
              <a:rPr lang="en-IN" b="1" dirty="0"/>
              <a:t> return 0;</a:t>
            </a:r>
          </a:p>
          <a:p>
            <a:r>
              <a:rPr lang="en-IN" b="1" dirty="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354" y="842517"/>
            <a:ext cx="4520565" cy="1257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10"/>
              </a:spcBef>
            </a:pPr>
            <a:r>
              <a:rPr sz="2400" b="1" dirty="0">
                <a:latin typeface="Cambria"/>
                <a:cs typeface="Cambria"/>
              </a:rPr>
              <a:t>number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between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two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numbers, </a:t>
            </a:r>
            <a:r>
              <a:rPr sz="2400" b="1" dirty="0">
                <a:latin typeface="Cambria"/>
                <a:cs typeface="Cambria"/>
              </a:rPr>
              <a:t>and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the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user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guesses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the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correct number.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1183</Words>
  <Application>Microsoft Office PowerPoint</Application>
  <PresentationFormat>Custom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Cambria</vt:lpstr>
      <vt:lpstr>Office Theme</vt:lpstr>
      <vt:lpstr>PROJECT REPORT</vt:lpstr>
      <vt:lpstr>CERTIFICATE This is to certify that the project report entitled '[Project Title]' submitted by [Your Name] in partial fulfillment of the requirements for the award of the degree of Bachelor of [Degree Name] in [Discipline] during the academic year [Year] is a record of the bona fide work carried out under my supervision.</vt:lpstr>
      <vt:lpstr>ACKNOWLEDGMENT I would like to express my sincere gratitude to my project guide [Guide Name], for their valuable guidance and encouragement throughout the course of this project. I also thank the Head of Department, faculty members, and my peers for their support and cooperation.</vt:lpstr>
      <vt:lpstr>INDEX</vt:lpstr>
      <vt:lpstr>1. BRIEF INFORMATION REGARDING PROJECT :</vt:lpstr>
      <vt:lpstr>2. INTRODUCTION</vt:lpstr>
      <vt:lpstr>3. Purpose:-</vt:lpstr>
      <vt:lpstr>4. TASK</vt:lpstr>
      <vt:lpstr>4. Method Of Implementation:</vt:lpstr>
      <vt:lpstr>PowerPoint Presentation</vt:lpstr>
      <vt:lpstr>5. Algorithm:  Step1: Start  Step 2: Include necessary header files (stdio.h,                  stdlib.h, time.h)  Step3: Initialize random number generator using srand(time(0))  Step 4: Generate random number between 1 and 100  Step 5: Ask user to guess the number  Step 6: Compare guess with generated number  Step 7: Display 'Too High' or 'Too Low' based on comparison  Step 8: Repeat steps 5–7 until correct guess  Step 9: Display success message and number of attempts  Step 10: Stop-</vt:lpstr>
      <vt:lpstr>6. CODE: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hp5cd5344hdj@outlook.com</cp:lastModifiedBy>
  <cp:revision>4</cp:revision>
  <dcterms:created xsi:type="dcterms:W3CDTF">2025-10-29T04:54:36Z</dcterms:created>
  <dcterms:modified xsi:type="dcterms:W3CDTF">2025-10-30T09:14:34Z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LastSaved">
    <vt:filetime>2025-10-29T00:00:00Z</vt:filetime>
  </property>
  <property fmtid="{D5CDD505-2E9C-101B-9397-08002B2CF9AE}" pid="4" name="Producer">
    <vt:lpwstr>3-Heights™ PDF Merge Split Shell 6.12.1.11 (http://www.pdf-tools.com)</vt:lpwstr>
  </property>
</Properties>
</file>